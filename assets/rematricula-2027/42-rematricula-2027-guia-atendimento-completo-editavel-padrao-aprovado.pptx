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1.xml"/><Relationship Id="rId5" Type="http://schemas.openxmlformats.org/officeDocument/2006/relationships/slide" Target="slide16.xml"/><Relationship Id="rId6" Type="http://schemas.openxmlformats.org/officeDocument/2006/relationships/slide" Target="slide20.xml"/><Relationship Id="rId7" Type="http://schemas.openxmlformats.org/officeDocument/2006/relationships/slide" Target="slide2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7.xml"/><Relationship Id="rId11" Type="http://schemas.openxmlformats.org/officeDocument/2006/relationships/slide" Target="slide3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2.xml"/><Relationship Id="rId9" Type="http://schemas.openxmlformats.org/officeDocument/2006/relationships/slide" Target="slide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2.xml"/><Relationship Id="rId7" Type="http://schemas.openxmlformats.org/officeDocument/2006/relationships/slide" Target="slide3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.xml"/><Relationship Id="rId6" Type="http://schemas.openxmlformats.org/officeDocument/2006/relationships/slide" Target="slide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slide" Target="slide22.xml"/><Relationship Id="rId4" Type="http://schemas.openxmlformats.org/officeDocument/2006/relationships/slide" Target="slide23.xml"/><Relationship Id="rId5" Type="http://schemas.openxmlformats.org/officeDocument/2006/relationships/slide" Target="slide2.xml"/><Relationship Id="rId6" Type="http://schemas.openxmlformats.org/officeDocument/2006/relationships/slide" Target="slide3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5.xml"/><Relationship Id="rId3" Type="http://schemas.openxmlformats.org/officeDocument/2006/relationships/slide" Target="slide26.xml"/><Relationship Id="rId4" Type="http://schemas.openxmlformats.org/officeDocument/2006/relationships/slide" Target="slide27.xml"/><Relationship Id="rId5" Type="http://schemas.openxmlformats.org/officeDocument/2006/relationships/slide" Target="slide2.xml"/><Relationship Id="rId6" Type="http://schemas.openxmlformats.org/officeDocument/2006/relationships/slide" Target="slide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slide" Target="slide2.xml"/><Relationship Id="rId4" Type="http://schemas.openxmlformats.org/officeDocument/2006/relationships/slide" Target="slide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73152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7315200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8046720" y="0"/>
            <a:ext cx="2926080" cy="2926080"/>
          </a:xfrm>
          <a:prstGeom prst="rtTriangle">
            <a:avLst/>
          </a:prstGeom>
          <a:solidFill>
            <a:srgbClr val="E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2103120" cy="420624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32104"/>
            <a:ext cx="1828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REMATRÍCULA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12064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FFFF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1635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Portal GSP | Great Schools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143000"/>
            <a:ext cx="51206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004832"/>
                </a:solidFill>
                <a:latin typeface="Liberation Sans"/>
              </a:defRPr>
            </a:pPr>
            <a:r>
              <a:t>Material de apoio para execução e atendimento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01952"/>
            <a:ext cx="493776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0">
                <a:solidFill>
                  <a:srgbClr val="111111"/>
                </a:solidFill>
                <a:latin typeface="Liberation Sans"/>
              </a:defRPr>
            </a:pPr>
            <a:r>
              <a:t>Documento editável com menus, perguntas, respostas seguras, pontos de atenção e links internos clicáveis.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3429000"/>
            <a:ext cx="219456" cy="219456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41071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Fluxo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3867912"/>
            <a:ext cx="219456" cy="219456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3849624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Acesso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0" y="4306824"/>
            <a:ext cx="219456" cy="219456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4288536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11111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4745736"/>
            <a:ext cx="219456" cy="219456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4727448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11111"/>
                </a:solidFill>
                <a:latin typeface="Liberation Sans"/>
              </a:defRPr>
            </a:pPr>
            <a:r>
              <a:t>Serviços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0" y="5184648"/>
            <a:ext cx="219456" cy="219456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516636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11111"/>
                </a:solidFill>
                <a:latin typeface="Liberation Sans"/>
              </a:defRPr>
            </a:pPr>
            <a:r>
              <a:t>Aulas Extras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5623560"/>
            <a:ext cx="219456" cy="219456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560527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11111"/>
                </a:solidFill>
                <a:latin typeface="Liberation Sans"/>
              </a:defRPr>
            </a:pPr>
            <a:r>
              <a:t>Pagamento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27" name="Rectangle 26">
            <a:hlinkClick action="ppaction://hlinksldjump" r:id="rId2"/>
          </p:cNvPr>
          <p:cNvSpPr/>
          <p:nvPr/>
        </p:nvSpPr>
        <p:spPr>
          <a:xfrm>
            <a:off x="0" y="0"/>
            <a:ext cx="10972800" cy="73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80467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4572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REMATRÍCULA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2048" y="246888"/>
            <a:ext cx="292608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GREAT SCHOOLS | PORTAL GSP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51206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004832"/>
                </a:solidFill>
                <a:latin typeface="Liberation Sans"/>
              </a:defRPr>
            </a:pPr>
            <a:r>
              <a:t>Menu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27632"/>
            <a:ext cx="6035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4C4C4C"/>
                </a:solidFill>
                <a:latin typeface="Liberation Sans"/>
              </a:defRPr>
            </a:pPr>
            <a:r>
              <a:t>Selecione uma etapa para acessar o template correspondente.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267712"/>
            <a:ext cx="292608" cy="292608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2951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Fluxo do Processo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76856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346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953512"/>
            <a:ext cx="292608" cy="292608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0083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9809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962656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639312"/>
            <a:ext cx="292608" cy="292608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941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6667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648456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062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325112"/>
            <a:ext cx="292608" cy="292608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799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3525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Pré-contrato e Serviços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334255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920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0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5010912"/>
            <a:ext cx="292608" cy="292608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657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50383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Aulas Extras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5020055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21488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0" y="2267712"/>
            <a:ext cx="292608" cy="292608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41848" y="23225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2951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Serviços Contratados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276856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28346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69280" y="2953512"/>
            <a:ext cx="292608" cy="292608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41848" y="30083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9809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2962656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35204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9280" y="3639312"/>
            <a:ext cx="292608" cy="292608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41848" y="36941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6667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Painel de Controle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3648456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42062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69280" y="4325112"/>
            <a:ext cx="292608" cy="292608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41848" y="43799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3525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4334255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0" y="489204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0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69280" y="5010912"/>
            <a:ext cx="292608" cy="292608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41848" y="5065776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038344"/>
            <a:ext cx="3246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320" b="1">
                <a:solidFill>
                  <a:srgbClr val="111111"/>
                </a:solidFill>
                <a:latin typeface="Liberation Sans"/>
              </a:defRPr>
            </a:pPr>
            <a:r>
              <a:t>Material de Apoio - Consultas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5020055"/>
            <a:ext cx="228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61" name="Rectangle 60">
            <a:hlinkClick action="ppaction://hlinksldjump" r:id="rId2"/>
          </p:cNvPr>
          <p:cNvSpPr/>
          <p:nvPr/>
        </p:nvSpPr>
        <p:spPr>
          <a:xfrm>
            <a:off x="777240" y="21488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>
            <a:hlinkClick action="ppaction://hlinksldjump" r:id="rId3"/>
          </p:cNvPr>
          <p:cNvSpPr/>
          <p:nvPr/>
        </p:nvSpPr>
        <p:spPr>
          <a:xfrm>
            <a:off x="777240" y="28346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>
            <a:hlinkClick action="ppaction://hlinksldjump" r:id="rId4"/>
          </p:cNvPr>
          <p:cNvSpPr/>
          <p:nvPr/>
        </p:nvSpPr>
        <p:spPr>
          <a:xfrm>
            <a:off x="777240" y="35204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>
            <a:hlinkClick action="ppaction://hlinksldjump" r:id="rId5"/>
          </p:cNvPr>
          <p:cNvSpPr/>
          <p:nvPr/>
        </p:nvSpPr>
        <p:spPr>
          <a:xfrm>
            <a:off x="777240" y="42062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>
            <a:hlinkClick action="ppaction://hlinksldjump" r:id="rId6"/>
          </p:cNvPr>
          <p:cNvSpPr/>
          <p:nvPr/>
        </p:nvSpPr>
        <p:spPr>
          <a:xfrm>
            <a:off x="777240" y="48920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>
            <a:hlinkClick action="ppaction://hlinksldjump" r:id="rId7"/>
          </p:cNvPr>
          <p:cNvSpPr/>
          <p:nvPr/>
        </p:nvSpPr>
        <p:spPr>
          <a:xfrm>
            <a:off x="5486400" y="21488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>
            <a:hlinkClick action="ppaction://hlinksldjump" r:id="rId8"/>
          </p:cNvPr>
          <p:cNvSpPr/>
          <p:nvPr/>
        </p:nvSpPr>
        <p:spPr>
          <a:xfrm>
            <a:off x="5486400" y="28346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>
            <a:hlinkClick action="ppaction://hlinksldjump" r:id="rId9"/>
          </p:cNvPr>
          <p:cNvSpPr/>
          <p:nvPr/>
        </p:nvSpPr>
        <p:spPr>
          <a:xfrm>
            <a:off x="5486400" y="35204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>
            <a:hlinkClick action="ppaction://hlinksldjump" r:id="rId10"/>
          </p:cNvPr>
          <p:cNvSpPr/>
          <p:nvPr/>
        </p:nvSpPr>
        <p:spPr>
          <a:xfrm>
            <a:off x="5486400" y="42062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>
            <a:hlinkClick action="ppaction://hlinksldjump" r:id="rId11"/>
          </p:cNvPr>
          <p:cNvSpPr/>
          <p:nvPr/>
        </p:nvSpPr>
        <p:spPr>
          <a:xfrm>
            <a:off x="5486400" y="489204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Fluxo do Processo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004832"/>
                </a:solidFill>
                <a:latin typeface="Liberation Sans"/>
              </a:defRPr>
            </a:pPr>
            <a:r>
              <a:t>Visão geral da jornada de atendimento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606040"/>
            <a:ext cx="8869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2752344"/>
            <a:ext cx="329184" cy="329184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807208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706624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Receber dúvida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15768"/>
            <a:ext cx="5394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111"/>
                </a:solidFill>
                <a:latin typeface="Liberation Sans"/>
              </a:defRPr>
            </a:pPr>
            <a:r>
              <a:t>Identificar etapa e objetivo do responsável.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47288"/>
            <a:ext cx="8869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" y="3593592"/>
            <a:ext cx="329184" cy="329184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648456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54787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Conferir dados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57016"/>
            <a:ext cx="5394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111"/>
                </a:solidFill>
                <a:latin typeface="Liberation Sans"/>
              </a:defRPr>
            </a:pPr>
            <a:r>
              <a:t>Validar aluno, responsável, unidade, série e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288536"/>
            <a:ext cx="8869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2" y="4434840"/>
            <a:ext cx="329184" cy="329184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489704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389120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Aplicar orientação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398264"/>
            <a:ext cx="5394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111"/>
                </a:solidFill>
                <a:latin typeface="Liberation Sans"/>
              </a:defRPr>
            </a:pPr>
            <a:r>
              <a:t>Usar a resposta segura associada à dúvida.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29784"/>
            <a:ext cx="8869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7552" y="5276088"/>
            <a:ext cx="329184" cy="329184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330952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230368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Escalar quando necessário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239512"/>
            <a:ext cx="5394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11111"/>
                </a:solidFill>
                <a:latin typeface="Liberation Sans"/>
              </a:defRPr>
            </a:pPr>
            <a:r>
              <a:t>Acionar equipe responsável quando houver divergência, regra ou falha.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42" name="Rectangle 41">
            <a:hlinkClick action="ppaction://hlinksldjump" r:id="rId2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157984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3113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03704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4832"/>
                </a:solidFill>
                <a:latin typeface="Liberation Sans"/>
              </a:defRPr>
            </a:pPr>
            <a:r>
              <a:t>Não lembro o e-mail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12848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07208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907792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8094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53512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8C3F"/>
                </a:solidFill>
                <a:latin typeface="Liberation Sans"/>
              </a:defRPr>
            </a:pPr>
            <a:r>
              <a:t>Esqueci minha senha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557016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657600"/>
            <a:ext cx="411480" cy="41148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7307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03320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B000"/>
                </a:solidFill>
                <a:latin typeface="Liberation Sans"/>
              </a:defRPr>
            </a:pPr>
            <a:r>
              <a:t>Não aparece o aluno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12464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06824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4407408"/>
            <a:ext cx="411480" cy="41148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480560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453128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6900"/>
                </a:solidFill>
                <a:latin typeface="Liberation Sans"/>
              </a:defRPr>
            </a:pPr>
            <a:r>
              <a:t>Não aparece o botão Rematrícula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462272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056632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0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5157216"/>
            <a:ext cx="411480" cy="41148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23036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202936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D6001C"/>
                </a:solidFill>
                <a:latin typeface="Liberation Sans"/>
              </a:defRPr>
            </a:pPr>
            <a:r>
              <a:t>Tenho mais de um filho. Faço todos de uma vez?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5212080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7048" y="5870448"/>
            <a:ext cx="6217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D6001C"/>
                </a:solidFill>
                <a:latin typeface="Liberation Sans"/>
              </a:defRPr>
            </a:pPr>
            <a:r>
              <a:t>6. Tipos de Bloqueios ao selecionar "Iniciar a Matrícula"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4960" y="6419088"/>
            <a:ext cx="1444752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04688" y="6519672"/>
            <a:ext cx="12252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50" name="Rectangle 49">
            <a:hlinkClick action="ppaction://hlinksldjump" r:id="rId2"/>
          </p:cNvPr>
          <p:cNvSpPr/>
          <p:nvPr/>
        </p:nvSpPr>
        <p:spPr>
          <a:xfrm>
            <a:off x="685800" y="2057400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>
            <a:hlinkClick action="ppaction://hlinksldjump" r:id="rId3"/>
          </p:cNvPr>
          <p:cNvSpPr/>
          <p:nvPr/>
        </p:nvSpPr>
        <p:spPr>
          <a:xfrm>
            <a:off x="685800" y="2807208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4"/>
          </p:cNvPr>
          <p:cNvSpPr/>
          <p:nvPr/>
        </p:nvSpPr>
        <p:spPr>
          <a:xfrm>
            <a:off x="685800" y="3557016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>
            <a:hlinkClick action="ppaction://hlinksldjump" r:id="rId5"/>
          </p:cNvPr>
          <p:cNvSpPr/>
          <p:nvPr/>
        </p:nvSpPr>
        <p:spPr>
          <a:xfrm>
            <a:off x="685800" y="4306824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>
            <a:hlinkClick action="ppaction://hlinksldjump" r:id="rId6"/>
          </p:cNvPr>
          <p:cNvSpPr/>
          <p:nvPr/>
        </p:nvSpPr>
        <p:spPr>
          <a:xfrm>
            <a:off x="685800" y="5056632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>
            <a:hlinkClick action="ppaction://hlinksldjump" r:id="rId7"/>
          </p:cNvPr>
          <p:cNvSpPr/>
          <p:nvPr/>
        </p:nvSpPr>
        <p:spPr>
          <a:xfrm>
            <a:off x="1527048" y="5870448"/>
            <a:ext cx="6217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>
            <a:hlinkClick action="ppaction://hlinksldjump" r:id="rId8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>
            <a:hlinkClick action="ppaction://hlinksldjump" r:id="rId9"/>
          </p:cNvPr>
          <p:cNvSpPr/>
          <p:nvPr/>
        </p:nvSpPr>
        <p:spPr>
          <a:xfrm>
            <a:off x="5394960" y="6419088"/>
            <a:ext cx="14447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lembro o e-mail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Verificar o e-mail cadastrado no responsável financeiro, aba Responsáveis, no cadastro do aluno.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Confirmar se o responsável solicita alteração de e-mail.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for alteração, ajuste no cadastro do RF e oriente novo acesso após 1 hora.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O acesso ao Portal dos Pais utiliza o e-mail cadastrado no sistema do Colégio.</a:t>
            </a:r>
          </a:p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Vamos conferir e, se necessário, orientar o acesso corretamente.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Há divergência entre dados informados e cadastro.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Esqueci minha senha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o e-mail cadastrado está correto.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o responsável tem acesso a esse e-mail, pois quando o RF clicar em "Esqueci a senha", receberá a redefinição de senha no e-mail cadastrado.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Reforçar que pode estar na caixa de Spam/Lixo Eletrônico.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No Portal dos Pais, utilize a opção "Esqueceu senha". O sistema enviará a redefinição para o e-mail cadastrado.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Reset não chega mesmo com o e-mail correto.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aparece o aluno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 pessoa que acessou é o responsável financeiro?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 e-mail usado no login é o mesmo cadastrado para o responsável financeiro?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responsável financeiro e acadêmico forem pessoas distintas, cada um deve ter e-mail único cadastrado.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Após ajuste, aguardar e conferir novamente.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 funcionalidade de Rematrícula fica disponível apenas para o responsável financeiro do aluno. Vou conferir se o acesso utilizado está vinculado ao responsável financeiro e se os dados cadastrais estão corretos, antes de tratarmos como erro do sistema.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Mesmo ajustando o e-mail de ambos os responsáveis e após 1 hora, ainda permanece sem a visualização do aluno.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aparece o botão Rematrícula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 pessoa que acessou é o responsável financeiro ou acadêmico?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 funcionalidade de Rematrícula fica disponível apenas para o responsável financeiro do aluno.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Mesmo sendo o RF correto, o botão permanece inativo.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Tenho mais de um filho. Faço todos de uma vez?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Quantos alunos estão vinculados ao responsável financeiro?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Verificar se o responsável está selecionando um aluno por vez.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 Rematrícula é feita um aluno por vez. Finalize o primeiro, retorne à tela inicial e inicie a Rematrícula do próximo.</a:t>
            </a:r>
          </a:p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Dados cadastrais iguais e independentes aparecem atualizados nos demais alunos.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Algum filho não aparece para seleção, ou aparece aluno incorreto.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Acesso ao Portal GSP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Tipos de Bloqueios ao selecionar "Iniciar a Matrícula"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Solicitar ao RF o número do código do tipo de bloqueio.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Códigos possíveis: 0 - Já processado; 1 - Inadimplente; 2 - Retido; 3 - Vetado.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- 5 - Filho colaborador; 7 - Aluno sem turma; 8 - Sem turma no ano letivo selecionado; 11 - Já possui matrícula no ano letivo.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Estaremos analisando sua solicitação e em breve lhe daremos o melhor direcionamento.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o bloqueio não procede.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157984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3113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03704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4832"/>
                </a:solidFill>
                <a:latin typeface="Liberation Sans"/>
              </a:defRPr>
            </a:pPr>
            <a:r>
              <a:t>Quero alterar dados cadastrais pelo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12848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07208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907792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8094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53512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8C3F"/>
                </a:solidFill>
                <a:latin typeface="Liberation Sans"/>
              </a:defRPr>
            </a:pPr>
            <a:r>
              <a:t>Não consigo avançar a etapa de identificação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557016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657600"/>
            <a:ext cx="411480" cy="41148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7307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03320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B000"/>
                </a:solidFill>
                <a:latin typeface="Liberation Sans"/>
              </a:defRPr>
            </a:pPr>
            <a:r>
              <a:t>Alteração do Responsável Financeiro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12464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06824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4407408"/>
            <a:ext cx="411480" cy="41148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480560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453128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6900"/>
                </a:solidFill>
                <a:latin typeface="Liberation Sans"/>
              </a:defRPr>
            </a:pPr>
            <a:r>
              <a:t>Alteração do Responsável Acadêmico ou Pessoas Autorizadas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462272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6419088"/>
            <a:ext cx="1444752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4688" y="6519672"/>
            <a:ext cx="12252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4" name="Rectangle 43">
            <a:hlinkClick action="ppaction://hlinksldjump" r:id="rId2"/>
          </p:cNvPr>
          <p:cNvSpPr/>
          <p:nvPr/>
        </p:nvSpPr>
        <p:spPr>
          <a:xfrm>
            <a:off x="685800" y="2057400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>
            <a:hlinkClick action="ppaction://hlinksldjump" r:id="rId3"/>
          </p:cNvPr>
          <p:cNvSpPr/>
          <p:nvPr/>
        </p:nvSpPr>
        <p:spPr>
          <a:xfrm>
            <a:off x="685800" y="2807208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4"/>
          </p:cNvPr>
          <p:cNvSpPr/>
          <p:nvPr/>
        </p:nvSpPr>
        <p:spPr>
          <a:xfrm>
            <a:off x="685800" y="3557016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>
            <a:hlinkClick action="ppaction://hlinksldjump" r:id="rId5"/>
          </p:cNvPr>
          <p:cNvSpPr/>
          <p:nvPr/>
        </p:nvSpPr>
        <p:spPr>
          <a:xfrm>
            <a:off x="685800" y="4306824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6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7"/>
          </p:cNvPr>
          <p:cNvSpPr/>
          <p:nvPr/>
        </p:nvSpPr>
        <p:spPr>
          <a:xfrm>
            <a:off x="5394960" y="6419088"/>
            <a:ext cx="14447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Quero alterar dados cadastrais pelo portal.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 campo está em branco/editável ou cinza/bloqueado?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É dado sensível/documental?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Alteração de endereço: é possível ser alterado diretamente pelo Portal, porém deve ser localizado no campo CEP e informar o complemento.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Os campos em branco/desbloqueados estão disponíveis para alteração pelo Portal. Campos bloqueados ou em cinza dependem de validação da secretaria, pois podem envolver dados sensíveis ou documentais.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Divergência em nome, documento ou filiação.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consigo avançar a etapa de identificação.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Todas as abas cadastrais foram confirmadas?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Aluno, Filiação, Responsáveis e Pessoas Autorizadas.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Qual erro aparece na visão do responsável?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 última aba cadastral pode estar pendente de confirmação.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Todas as abas cadastrais devem estar confirmadas para avançar a etapa: Aluno, Filiação, Responsáveis e Pessoas Autorizadas.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todas as abas estiverem confirmadas, minimizadas em verde, e ainda persistir erro ao tentar avançar.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Alteração do Responsável Financeiro.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 pessoa em atendimento é o responsável financeiro?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 RF está inadimplente?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Para alteração de responsável financeiro, consultar o processo Alteração do Responsável Financeiro no Menu 10 - Consultar Regra.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Estaremos analisando sua solicitação e em breve lhe daremos o melhor direcionamento.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Dúvidas no material de apoio referente ao Processo de Alteração do Responsável Financeiro.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Identificação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Alteração do Responsável Acadêmico ou Pessoas Autorizadas.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Alteração de responsável acadêmico ou Pessoas Autorizadas.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Localizar primeiramente pelo CPF da pessoa e incluir ou validar os dados cadastrais.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Não há necessidade de incluir os dados da mãe ou pai em pessoas autorizadas.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É possível alterar diretamente pelo Portal, localizando primeiro pelo CPF da pessoa que deseja incluir.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Dúvidas no processo de inclusão no Portal.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Pré-contrato e Serviços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157984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3113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03704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4832"/>
                </a:solidFill>
                <a:latin typeface="Liberation Sans"/>
              </a:defRPr>
            </a:pPr>
            <a:r>
              <a:t>Não entendi quais serviços posso contratar.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12848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07208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907792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8094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53512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8C3F"/>
                </a:solidFill>
                <a:latin typeface="Liberation Sans"/>
              </a:defRPr>
            </a:pPr>
            <a:r>
              <a:t>Quero alterar o turno para o próximo ano letivo.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557016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657600"/>
            <a:ext cx="411480" cy="41148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7307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03320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B000"/>
                </a:solidFill>
                <a:latin typeface="Liberation Sans"/>
              </a:defRPr>
            </a:pPr>
            <a:r>
              <a:t>Meu desconto aparece em um serviço, mas não aparece em outro.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12464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6419088"/>
            <a:ext cx="1444752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04688" y="6519672"/>
            <a:ext cx="12252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39" name="Rectangle 38">
            <a:hlinkClick action="ppaction://hlinksldjump" r:id="rId2"/>
          </p:cNvPr>
          <p:cNvSpPr/>
          <p:nvPr/>
        </p:nvSpPr>
        <p:spPr>
          <a:xfrm>
            <a:off x="685800" y="2057400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3"/>
          </p:cNvPr>
          <p:cNvSpPr/>
          <p:nvPr/>
        </p:nvSpPr>
        <p:spPr>
          <a:xfrm>
            <a:off x="685800" y="2807208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>
            <a:hlinkClick action="ppaction://hlinksldjump" r:id="rId4"/>
          </p:cNvPr>
          <p:cNvSpPr/>
          <p:nvPr/>
        </p:nvSpPr>
        <p:spPr>
          <a:xfrm>
            <a:off x="685800" y="3557016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>
            <a:hlinkClick action="ppaction://hlinksldjump" r:id="rId5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>
            <a:hlinkClick action="ppaction://hlinksldjump" r:id="rId6"/>
          </p:cNvPr>
          <p:cNvSpPr/>
          <p:nvPr/>
        </p:nvSpPr>
        <p:spPr>
          <a:xfrm>
            <a:off x="5394960" y="6419088"/>
            <a:ext cx="14447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Pré-contrato e Serviços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entendi quais serviços posso contratar.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Unidade do aluno.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Segmento/série.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Serviços disponíveis no portal.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Encaminhar material de apoio, como banners feitos pelo marketing da escola.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As opções de serviço aparecem conforme a unidade e o segmento do aluno. Vou conferir qual opção está disponível no Portal dos Pais para garantir a escolha correta.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Serviço esperado não aparece ou há divergência entre portal e regra da unidade.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Pré-contrato e Serviços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Quero alterar o turno para o próximo ano letivo.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Unidade do aluno.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Segmento/série.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Turnos disponíveis para a série.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Quando houver dois turnos de oferta, o RF deve formalizar o pedido por e-mail, exceto Santo Anjo.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Neste momento da rematrícula, finalize o processo e encaminhe e-mail/atendimento oficializando a solicitação. A manutenção será feita mediante disponibilidade de vaga.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a oferta de serviços por segmento não estiver completa na visão do RF.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Pré-contrato e Serviços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Meu desconto aparece em um serviço, mas não aparece em outro.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Qual serviço foi selecionado.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Tipo de desconto/bolsa cadastrado no metadados de bolsa.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o desconto é por tipo de serviço, como Família Fundadora.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Os descontos são cadastrados por tipo de contratação de cada serviço. Por isso, pode acontecer de o desconto aparecer em uma opção e não em outra.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Desconto aprovado não aparece no serviço correto ou precisa ser incluído/ajustado no sistema após renegociação com a unidade.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Aulas Extras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157984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3113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03704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4832"/>
                </a:solidFill>
                <a:latin typeface="Liberation Sans"/>
              </a:defRPr>
            </a:pPr>
            <a:r>
              <a:t>Uma aula extra não aparece para meu filho.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12848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07208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907792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8094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53512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8C3F"/>
                </a:solidFill>
                <a:latin typeface="Liberation Sans"/>
              </a:defRPr>
            </a:pPr>
            <a:r>
              <a:t>Marquei contratar, mas o valor não apareceu.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557016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657600"/>
            <a:ext cx="411480" cy="41148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7307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03320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B000"/>
                </a:solidFill>
                <a:latin typeface="Liberation Sans"/>
              </a:defRPr>
            </a:pPr>
            <a:r>
              <a:t>Por que a mesma aula tem valores diferentes?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12464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6419088"/>
            <a:ext cx="1444752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04688" y="6519672"/>
            <a:ext cx="12252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39" name="Rectangle 38">
            <a:hlinkClick action="ppaction://hlinksldjump" r:id="rId2"/>
          </p:cNvPr>
          <p:cNvSpPr/>
          <p:nvPr/>
        </p:nvSpPr>
        <p:spPr>
          <a:xfrm>
            <a:off x="685800" y="2057400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3"/>
          </p:cNvPr>
          <p:cNvSpPr/>
          <p:nvPr/>
        </p:nvSpPr>
        <p:spPr>
          <a:xfrm>
            <a:off x="685800" y="2807208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>
            <a:hlinkClick action="ppaction://hlinksldjump" r:id="rId4"/>
          </p:cNvPr>
          <p:cNvSpPr/>
          <p:nvPr/>
        </p:nvSpPr>
        <p:spPr>
          <a:xfrm>
            <a:off x="685800" y="3557016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>
            <a:hlinkClick action="ppaction://hlinksldjump" r:id="rId5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>
            <a:hlinkClick action="ppaction://hlinksldjump" r:id="rId6"/>
          </p:cNvPr>
          <p:cNvSpPr/>
          <p:nvPr/>
        </p:nvSpPr>
        <p:spPr>
          <a:xfrm>
            <a:off x="5394960" y="6419088"/>
            <a:ext cx="14447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Aulas Extras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Uma aula extra não aparece para meu filho.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Série/segmento do aluno.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Oferta disponível para aquela série.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a aula deveria aparecer para aquele aluno.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Vou confirmar se essa aula extra está ofertada para a série do aluno. Se a oferta deveria aparecer e não está aparecendo, acionamos a equipe responsável para verificar.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Secretaria confirma que a aula deveria aparecer, oferta está ausente para série correta ou há divergência de parametrização/oferta.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Aulas Extras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Marquei contratar, mas o valor não apareceu.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Responsável marcou Contratar?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Selecionou também a opção/plano de 2027?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 valor apareceu após a seleção do plano?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Além de marcar Contratar, é necessário selecionar a opção ou plano de 2027. O valor aparece depois dessa seleção.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Plano foi selecionado e valor não aparece, valor exibido está divergente ou modalidade esperada não aparece.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Aulas Extras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Por que a mesma aula tem valores diferentes?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Modalidade escolhida.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inclui almoço ou outra composição.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Algumas aulas podem ter planos diferentes, como opções com ou sem almoço. O valor depende da opção escolhida.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Modalidade está sem descrição clara, ou o responsável questiona valor divergente.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Serviços Contratados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157984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3113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03704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4832"/>
                </a:solidFill>
                <a:latin typeface="Liberation Sans"/>
              </a:defRPr>
            </a:pPr>
            <a:r>
              <a:t>Consegui renegociar desconto. Posso continuar a Rematrícula?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12848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07208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907792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8094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53512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8C3F"/>
                </a:solidFill>
                <a:latin typeface="Liberation Sans"/>
              </a:defRPr>
            </a:pPr>
            <a:r>
              <a:t>O desconto que aparece na aba anexo contempla quais parcelas?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557016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657600"/>
            <a:ext cx="411480" cy="41148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7307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03320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FFB000"/>
                </a:solidFill>
                <a:latin typeface="Liberation Sans"/>
              </a:defRPr>
            </a:pPr>
            <a:r>
              <a:t>Qual a diferença entre minuta e contrato assinado?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12464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6419088"/>
            <a:ext cx="1444752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04688" y="6519672"/>
            <a:ext cx="12252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39" name="Rectangle 38">
            <a:hlinkClick action="ppaction://hlinksldjump" r:id="rId2"/>
          </p:cNvPr>
          <p:cNvSpPr/>
          <p:nvPr/>
        </p:nvSpPr>
        <p:spPr>
          <a:xfrm>
            <a:off x="685800" y="2057400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3"/>
          </p:cNvPr>
          <p:cNvSpPr/>
          <p:nvPr/>
        </p:nvSpPr>
        <p:spPr>
          <a:xfrm>
            <a:off x="685800" y="2807208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>
            <a:hlinkClick action="ppaction://hlinksldjump" r:id="rId4"/>
          </p:cNvPr>
          <p:cNvSpPr/>
          <p:nvPr/>
        </p:nvSpPr>
        <p:spPr>
          <a:xfrm>
            <a:off x="685800" y="3557016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>
            <a:hlinkClick action="ppaction://hlinksldjump" r:id="rId5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>
            <a:hlinkClick action="ppaction://hlinksldjump" r:id="rId6"/>
          </p:cNvPr>
          <p:cNvSpPr/>
          <p:nvPr/>
        </p:nvSpPr>
        <p:spPr>
          <a:xfrm>
            <a:off x="5394960" y="6419088"/>
            <a:ext cx="14447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Serviços Contratados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Consegui renegociar desconto. Posso continuar a Rematrícula?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Desconto foi aprovado?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Desconto já foi cadastrado no sistema?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 responsável já visualiza o desconto no Portal dos Pais no serviço que será contratado?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Antes de continuar a Rematrícula, precisamos confirmar se o desconto aprovado já foi cadastrado. Assim que for atualizado no sistema, o responsável visualizará o valor correto no Portal dos Pais.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Desconto aprovado ainda não foi cadastrado ou responsável não visualiza desconto após a atualização.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Serviços Contratados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O desconto que aparece na aba anexo contempla quais parcelas?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Qual o nome do desconto que aparece nesta visão do Portal?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a escola/aluno possui regra de desconto na primeira parcela.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o desconto está sendo visualizado na etapa correta.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Para melhor entendimento da disposição do desconto apresentado nesta etapa, siga até a etapa de Serviços Contratados.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Desconto deveria aparecer e não aparece, ou o responsável questiona valor divergente.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Serviços Contratados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Qual a diferença entre minuta e contrato assinado?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Responsável está visualizando minuta ou contrato final?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Contrato já foi assinado eletronicamente?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 minuta é o documento prévio para leitura. O contrato assinado é gerado após a assinatura eletrônica e contém as informações de validação da assinatura.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Dados cadastrais ou cláusulas estão divergentes, responsável questiona cláusula ou há necessidade de validação jurídica/comercial.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29968"/>
            <a:ext cx="8915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080260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15341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176272"/>
            <a:ext cx="745236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50" b="1">
                <a:solidFill>
                  <a:srgbClr val="004832"/>
                </a:solidFill>
                <a:latin typeface="Liberation Sans"/>
              </a:defRPr>
            </a:pPr>
            <a:r>
              <a:t>Não aparece a forma de pagamento.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185416"/>
            <a:ext cx="27432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33472"/>
            <a:ext cx="8915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683764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75691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779776"/>
            <a:ext cx="745236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50" b="1">
                <a:solidFill>
                  <a:srgbClr val="008C3F"/>
                </a:solidFill>
                <a:latin typeface="Liberation Sans"/>
              </a:defRPr>
            </a:pPr>
            <a:r>
              <a:t>Selecionei a opção mensal, o que preciso pagar para finalizar a rematrícula?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88920"/>
            <a:ext cx="27432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36976"/>
            <a:ext cx="8915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287268"/>
            <a:ext cx="411480" cy="41148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360420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83280"/>
            <a:ext cx="745236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50" b="1">
                <a:solidFill>
                  <a:srgbClr val="FFB000"/>
                </a:solidFill>
                <a:latin typeface="Liberation Sans"/>
              </a:defRPr>
            </a:pPr>
            <a:r>
              <a:t>O botão finalizar está cinza/bloqueado.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392424"/>
            <a:ext cx="27432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840480"/>
            <a:ext cx="8915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3890772"/>
            <a:ext cx="411480" cy="41148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9639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986784"/>
            <a:ext cx="745236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50" b="1">
                <a:solidFill>
                  <a:srgbClr val="FF6900"/>
                </a:solidFill>
                <a:latin typeface="Liberation Sans"/>
              </a:defRPr>
            </a:pPr>
            <a:r>
              <a:t>Quero pagar à vista, quais descontos eu tenho?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95928"/>
            <a:ext cx="27432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443984"/>
            <a:ext cx="8915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0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4494276"/>
            <a:ext cx="411480" cy="41148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56742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590288"/>
            <a:ext cx="745236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50" b="1">
                <a:solidFill>
                  <a:srgbClr val="D6001C"/>
                </a:solidFill>
                <a:latin typeface="Liberation Sans"/>
              </a:defRPr>
            </a:pPr>
            <a:r>
              <a:t>A bolsa 'Família Fundadora' acumula com outros descontos?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599432"/>
            <a:ext cx="27432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047488"/>
            <a:ext cx="8915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6112" y="5097780"/>
            <a:ext cx="411480" cy="411480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17093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193792"/>
            <a:ext cx="745236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50" b="1">
                <a:solidFill>
                  <a:srgbClr val="5A1F80"/>
                </a:solidFill>
                <a:latin typeface="Liberation Sans"/>
              </a:defRPr>
            </a:pPr>
            <a:r>
              <a:t>Pagamento Cartão/Pix?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5202936"/>
            <a:ext cx="27432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56648" y="6419088"/>
            <a:ext cx="841248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66376" y="6519672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52" name="Rectangle 51">
            <a:hlinkClick action="ppaction://hlinksldjump" r:id="rId2"/>
          </p:cNvPr>
          <p:cNvSpPr/>
          <p:nvPr/>
        </p:nvSpPr>
        <p:spPr>
          <a:xfrm>
            <a:off x="685800" y="2029968"/>
            <a:ext cx="891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>
            <a:hlinkClick action="ppaction://hlinksldjump" r:id="rId3"/>
          </p:cNvPr>
          <p:cNvSpPr/>
          <p:nvPr/>
        </p:nvSpPr>
        <p:spPr>
          <a:xfrm>
            <a:off x="685800" y="2633472"/>
            <a:ext cx="891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>
            <a:hlinkClick action="ppaction://hlinksldjump" r:id="rId4"/>
          </p:cNvPr>
          <p:cNvSpPr/>
          <p:nvPr/>
        </p:nvSpPr>
        <p:spPr>
          <a:xfrm>
            <a:off x="685800" y="3236976"/>
            <a:ext cx="891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>
            <a:hlinkClick action="ppaction://hlinksldjump" r:id="rId5"/>
          </p:cNvPr>
          <p:cNvSpPr/>
          <p:nvPr/>
        </p:nvSpPr>
        <p:spPr>
          <a:xfrm>
            <a:off x="685800" y="3840480"/>
            <a:ext cx="891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>
            <a:hlinkClick action="ppaction://hlinksldjump" r:id="rId6"/>
          </p:cNvPr>
          <p:cNvSpPr/>
          <p:nvPr/>
        </p:nvSpPr>
        <p:spPr>
          <a:xfrm>
            <a:off x="685800" y="4443984"/>
            <a:ext cx="891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>
            <a:hlinkClick action="ppaction://hlinksldjump" r:id="rId7"/>
          </p:cNvPr>
          <p:cNvSpPr/>
          <p:nvPr/>
        </p:nvSpPr>
        <p:spPr>
          <a:xfrm>
            <a:off x="685800" y="5047488"/>
            <a:ext cx="891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>
            <a:hlinkClick action="ppaction://hlinksldjump" r:id="rId8"/>
          </p:cNvPr>
          <p:cNvSpPr/>
          <p:nvPr/>
        </p:nvSpPr>
        <p:spPr>
          <a:xfrm>
            <a:off x="9756648" y="6419088"/>
            <a:ext cx="8412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aparece a forma de pagamento.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Responsável está na etapa correta?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Contrato já foi assinado eletronicamente no botão Assine o contrato e siga para o pagamento?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Selecionou a condição de pagamento do ano letivo: mensal ou à vista?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 forma de pagamento aparece depois da assinatura eletrônica do contrato e da seleção da condição de pagamento do ano letivo. Depois disso, o responsável visualiza as condições para concluir a rematrícula.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a regra financeira da unidade está divergente do apresentado ao responsável no Portal.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Pagamento de Crédito/Pix.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O RF está na tela para selecionar a forma de pagamento no cartão/Pix?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Cartão: validar número, vencimento, nome impresso e CVV.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Pix: código ou QR Code apresentado.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RF, alguns erros podem ocorrer ao adicionar dados do cartão ou ao gerar o Pix. Vamos conferir a mensagem apresentada na tela.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a compra apresenta apontamento, quando o número do pedido consta como gerado no Portal ou quando não há retorno/aprovação do QR Code.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O botão finalizar está cinza/bloqueado.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Contrato assinado.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Forma de pagamento selecionada.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Meio de pagamento da primeira parcela selecionado.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Flags/declarações obrigatórias marcadas.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o botão fica desabilitado, normalmente falta marcar alguma confirmação obrigatória ou concluir uma seleção da etapa. Vamos conferir as declarações, a forma de pagamento e a primeira parcela.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Tudo está marcado/concluído e o botão continua bloqueado, há mensagem de erro não mapeada ou pagamento foi realizado e etapa não avançou.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Escolhi pagamento mensal, o que preciso pagar para finalizar a rematrícula?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Responsável está na etapa correta?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Houve seleção da opção mensal?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Selecionou também o meio de pagamento da primeira parcela?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Conforme contrato, a anuidade é dividida em 13 parcelas. O pagamento da 13ª parcela é realizado conforme as condições apresentadas no processo de rematrícula.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a regra financeira da unidade está divergente do apresentado ao responsável no Portal.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Quero pagar à vista, quais descontos eu tenho?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Nome do aluno e série/segmento.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Planilha de bolsa da unidade.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Se há descontos no serviço contratado.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 bolsa de anuidade é a última ordem a ser calculada e não contempla material didático.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A bolsa de anuidade contempla todos os serviços contratados, exceto material didático. Os descontos devem ser conferidos conforme a regra da unidade.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a porcentagem estiver divergente da regra financeira da unidade.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Formas de Pagamento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A bolsa Família Fundadora acumula com outros descontos?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Verificar a porcentagem e serviços contratados.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Apenas quando selecionar a opção para pagamento anual da anuidade, essa seleção resultará em desconto, sendo o último desconto aplicado.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É possível acrescentar apenas o desconto do pagamento anual da bolsa anuidade, quando for aplicável, e não outros descontos somados.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Quando a regra comercial da unidade não estiver cadastrada ou quando aparece valor fora da regra da bolsa Família Fundadora.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Painel de Controle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55648"/>
            <a:ext cx="6766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0">
                <a:solidFill>
                  <a:srgbClr val="111111"/>
                </a:solidFill>
                <a:latin typeface="Liberation Sans"/>
              </a:defRPr>
            </a:pPr>
            <a:r>
              <a:t>Clique na dúvida desejada para visualizar as orientações de atendimento.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157984"/>
            <a:ext cx="411480" cy="411480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3113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03704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4832"/>
                </a:solidFill>
                <a:latin typeface="Liberation Sans"/>
              </a:defRPr>
            </a:pPr>
            <a:r>
              <a:t>Não sei se finalizei a Rematrícula.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12848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07208"/>
            <a:ext cx="69951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2907792"/>
            <a:ext cx="411480" cy="411480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8094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53512"/>
            <a:ext cx="5532120" cy="4480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700" b="1">
                <a:solidFill>
                  <a:srgbClr val="008C3F"/>
                </a:solidFill>
                <a:latin typeface="Liberation Sans"/>
              </a:defRPr>
            </a:pPr>
            <a:r>
              <a:t>Apareceu status Falha, quem acionar?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274320" cy="4297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5A1F80"/>
                </a:solidFill>
                <a:latin typeface="Liberation San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6419088"/>
            <a:ext cx="1444752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4688" y="6519672"/>
            <a:ext cx="12252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34" name="Rectangle 33">
            <a:hlinkClick action="ppaction://hlinksldjump" r:id="rId2"/>
          </p:cNvPr>
          <p:cNvSpPr/>
          <p:nvPr/>
        </p:nvSpPr>
        <p:spPr>
          <a:xfrm>
            <a:off x="685800" y="2057400"/>
            <a:ext cx="69951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>
            <a:hlinkClick action="ppaction://hlinksldjump" r:id="rId3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>
            <a:hlinkClick action="ppaction://hlinksldjump" r:id="rId4"/>
          </p:cNvPr>
          <p:cNvSpPr/>
          <p:nvPr/>
        </p:nvSpPr>
        <p:spPr>
          <a:xfrm>
            <a:off x="5394960" y="6419088"/>
            <a:ext cx="14447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Painel de Controle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78992"/>
            <a:ext cx="205740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79576"/>
            <a:ext cx="183794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832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78992"/>
            <a:ext cx="214884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179576"/>
            <a:ext cx="19293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6900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97200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9555480" cy="1828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" y="1847088"/>
            <a:ext cx="530352" cy="53035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56816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011680"/>
            <a:ext cx="1737360" cy="2103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Dúvida selecionada: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938528"/>
            <a:ext cx="667512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111111"/>
                </a:solidFill>
                <a:latin typeface="Liberation Sans"/>
              </a:defRPr>
            </a:pPr>
            <a:r>
              <a:t>Não sei se finalizei a Rematrícula.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" y="3017520"/>
            <a:ext cx="530352" cy="53035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27248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45536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008C3F"/>
                </a:solidFill>
                <a:latin typeface="Liberation Sans"/>
              </a:defRPr>
            </a:pPr>
            <a:r>
              <a:t>O que conferir?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880360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2798064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Painel administrativo interno.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Nome do aluno.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Status do processo.</a:t>
            </a:r>
          </a:p>
          <a:p>
            <a:pPr>
              <a:spcAft>
                <a:spcPts val="400"/>
              </a:spcAft>
              <a:defRPr sz="1340" b="0">
                <a:solidFill>
                  <a:srgbClr val="111111"/>
                </a:solidFill>
                <a:latin typeface="Liberation Sans"/>
              </a:defRPr>
            </a:pPr>
            <a:r>
              <a:t>- Detalhes pela engrenagem, se necessário.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96512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" y="4462272"/>
            <a:ext cx="530352" cy="53035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572000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FF6900"/>
                </a:solidFill>
                <a:latin typeface="Liberation Sans"/>
              </a:defRPr>
            </a:pPr>
            <a:r>
              <a:t>Resposta Segura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325112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343400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Vou consultar e, caso ainda não tenha passado por todo o processo, vou orientar para conseguir concluir.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41264"/>
            <a:ext cx="972007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" y="5907024"/>
            <a:ext cx="530352" cy="530352"/>
          </a:xfrm>
          <a:prstGeom prst="ellipse">
            <a:avLst/>
          </a:prstGeom>
          <a:solidFill>
            <a:srgbClr val="5A1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016752"/>
            <a:ext cx="329184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035040"/>
            <a:ext cx="14630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400" b="1">
                <a:solidFill>
                  <a:srgbClr val="5A1F80"/>
                </a:solidFill>
                <a:latin typeface="Liberation Sans"/>
              </a:defRPr>
            </a:pPr>
            <a:r>
              <a:t>Quando Escalar?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769864"/>
            <a:ext cx="9144" cy="804671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5788152"/>
            <a:ext cx="6748272" cy="9875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11111"/>
                </a:solidFill>
                <a:latin typeface="Liberation Sans"/>
              </a:defRPr>
            </a:pPr>
            <a:r>
              <a:t>Dúvidas no status Falha.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47" name="Rectangle 46">
            <a:hlinkClick action="ppaction://hlinksldjump" r:id="rId2"/>
          </p:cNvPr>
          <p:cNvSpPr/>
          <p:nvPr/>
        </p:nvSpPr>
        <p:spPr>
          <a:xfrm>
            <a:off x="6172200" y="1078992"/>
            <a:ext cx="2057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8458200" y="1078992"/>
            <a:ext cx="2148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4"/>
          </p:cNvPr>
          <p:cNvSpPr/>
          <p:nvPr/>
        </p:nvSpPr>
        <p:spPr>
          <a:xfrm>
            <a:off x="365760" y="1810512"/>
            <a:ext cx="97200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Canais Rápidos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5740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2240280"/>
            <a:ext cx="347472" cy="34747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95144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249424"/>
            <a:ext cx="777240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11111"/>
                </a:solidFill>
                <a:latin typeface="Liberation Sans"/>
              </a:defRPr>
            </a:pPr>
            <a:r>
              <a:t>Setor Acadêmico - Educacional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7180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154680"/>
            <a:ext cx="347472" cy="34747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09544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63824"/>
            <a:ext cx="777240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11111"/>
                </a:solidFill>
                <a:latin typeface="Liberation Sans"/>
              </a:defRPr>
            </a:pPr>
            <a:r>
              <a:t>Setor 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8620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069080"/>
            <a:ext cx="347472" cy="34747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23944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78224"/>
            <a:ext cx="777240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11111"/>
                </a:solidFill>
                <a:latin typeface="Liberation Sans"/>
              </a:defRPr>
            </a:pPr>
            <a:r>
              <a:t>Utilizar em horário comercial para atendimento imediato.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33" name="Rectangle 32">
            <a:hlinkClick action="ppaction://hlinksldjump" r:id="rId2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40080" cy="640080"/>
          </a:xfrm>
          <a:prstGeom prst="rtTriangl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800" b="1">
                <a:solidFill>
                  <a:srgbClr val="004832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0784" y="228600"/>
            <a:ext cx="18288" cy="713232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47472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04832"/>
                </a:solidFill>
                <a:latin typeface="Liberation Sans"/>
              </a:defRPr>
            </a:pPr>
            <a:r>
              <a:t>GUIA DE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"/>
            <a:ext cx="822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004832"/>
                </a:solidFill>
                <a:latin typeface="Liberation Sans"/>
              </a:defRPr>
            </a:pPr>
            <a:r>
              <a:t>GREAT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3296" y="502920"/>
            <a:ext cx="9326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50" b="1">
                <a:solidFill>
                  <a:srgbClr val="004832"/>
                </a:solidFill>
                <a:latin typeface="Liberation Sans"/>
              </a:defRPr>
            </a:pPr>
            <a:r>
              <a:t>S C H O O L 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201168"/>
            <a:ext cx="18288" cy="566928"/>
          </a:xfrm>
          <a:prstGeom prst="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301752"/>
            <a:ext cx="1325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04832"/>
                </a:solidFill>
                <a:latin typeface="Liberation Sans"/>
              </a:defRPr>
            </a:pPr>
            <a:r>
              <a:t>PORTAL GSP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60704"/>
            <a:ext cx="384048" cy="64008"/>
          </a:xfrm>
          <a:prstGeom prst="roundRect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1060704"/>
            <a:ext cx="384048" cy="64008"/>
          </a:xfrm>
          <a:prstGeom prst="roundRect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1060704"/>
            <a:ext cx="384048" cy="64008"/>
          </a:xfrm>
          <a:prstGeom prst="round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060704"/>
            <a:ext cx="384048" cy="64008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325880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004832"/>
                </a:solidFill>
                <a:latin typeface="Liberation Sans"/>
              </a:defRPr>
            </a:pPr>
            <a:r>
              <a:t>Material de Apoio - Consultas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5740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2240280"/>
            <a:ext cx="347472" cy="347472"/>
          </a:xfrm>
          <a:prstGeom prst="ellipse">
            <a:avLst/>
          </a:prstGeom>
          <a:solidFill>
            <a:srgbClr val="00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95144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249424"/>
            <a:ext cx="777240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11111"/>
                </a:solidFill>
                <a:latin typeface="Liberation Sans"/>
              </a:defRPr>
            </a:pPr>
            <a:r>
              <a:t>Regras e bolsas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7180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154680"/>
            <a:ext cx="347472" cy="34747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09544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63824"/>
            <a:ext cx="777240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11111"/>
                </a:solidFill>
                <a:latin typeface="Liberation Sans"/>
              </a:defRPr>
            </a:pPr>
            <a:r>
              <a:t>Alteração de responsável financeiro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8620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069080"/>
            <a:ext cx="347472" cy="347472"/>
          </a:xfrm>
          <a:prstGeom prst="ellipse">
            <a:avLst/>
          </a:prstGeom>
          <a:solidFill>
            <a:srgbClr val="00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23944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78224"/>
            <a:ext cx="777240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11111"/>
                </a:solidFill>
                <a:latin typeface="Liberation Sans"/>
              </a:defRPr>
            </a:pPr>
            <a:r>
              <a:t>Materiais de apoio por unidade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6419088"/>
            <a:ext cx="1042415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5A1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6519672"/>
            <a:ext cx="82295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5A1F80"/>
                </a:solidFill>
                <a:latin typeface="Liberation Sans"/>
              </a:defRPr>
            </a:pPr>
            <a:r>
              <a:t>Menu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58000"/>
            <a:ext cx="10972800" cy="457200"/>
          </a:xfrm>
          <a:prstGeom prst="rect">
            <a:avLst/>
          </a:prstGeom>
          <a:solidFill>
            <a:srgbClr val="005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976872"/>
            <a:ext cx="5852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FFFFFF"/>
                </a:solidFill>
                <a:latin typeface="Liberation Sans"/>
              </a:defRPr>
            </a:pPr>
            <a:r>
              <a:t>Área de Sucesso das Escolas   |   Great Schools 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40" y="6986016"/>
            <a:ext cx="502920" cy="210312"/>
          </a:xfrm>
          <a:prstGeom prst="roundRect">
            <a:avLst>
              <a:gd name="adj" fmla="val 50000"/>
            </a:avLst>
          </a:prstGeom>
          <a:solidFill>
            <a:srgbClr val="5B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6940296"/>
            <a:ext cx="548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33" name="Rectangle 32">
            <a:hlinkClick action="ppaction://hlinksldjump" r:id="rId2"/>
          </p:cNvPr>
          <p:cNvSpPr/>
          <p:nvPr/>
        </p:nvSpPr>
        <p:spPr>
          <a:xfrm>
            <a:off x="4096512" y="6419088"/>
            <a:ext cx="104241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